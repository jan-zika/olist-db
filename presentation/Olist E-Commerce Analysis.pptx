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79" r:id="rId4"/>
    <p:sldId id="258" r:id="rId5"/>
    <p:sldId id="259" r:id="rId6"/>
    <p:sldId id="260" r:id="rId7"/>
    <p:sldId id="277" r:id="rId8"/>
    <p:sldId id="261" r:id="rId9"/>
    <p:sldId id="278" r:id="rId10"/>
    <p:sldId id="264" r:id="rId11"/>
    <p:sldId id="282" r:id="rId12"/>
    <p:sldId id="283" r:id="rId13"/>
    <p:sldId id="284" r:id="rId14"/>
    <p:sldId id="285" r:id="rId15"/>
    <p:sldId id="265" r:id="rId16"/>
    <p:sldId id="266" r:id="rId17"/>
    <p:sldId id="286" r:id="rId18"/>
    <p:sldId id="267" r:id="rId19"/>
    <p:sldId id="275" r:id="rId20"/>
    <p:sldId id="276" r:id="rId21"/>
    <p:sldId id="281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A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E0AF7-D07D-4CD2-B71E-DB99C560702A}" v="253" dt="2026-04-23T21:59:38.225"/>
    <p1510:client id="{6ADC6B02-4DAA-8289-B3CF-2F1CEBED77C8}" v="29" dt="2026-04-23T20:12:12.9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(R$ million)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garden_tools</c:v>
                </c:pt>
                <c:pt idx="1">
                  <c:v>auto</c:v>
                </c:pt>
                <c:pt idx="2">
                  <c:v>cool_stuff</c:v>
                </c:pt>
                <c:pt idx="3">
                  <c:v>housewares</c:v>
                </c:pt>
                <c:pt idx="4">
                  <c:v>furniture_decor</c:v>
                </c:pt>
                <c:pt idx="5">
                  <c:v>computers_accessories</c:v>
                </c:pt>
                <c:pt idx="6">
                  <c:v>sports_leisure</c:v>
                </c:pt>
                <c:pt idx="7">
                  <c:v>bed_bath_table</c:v>
                </c:pt>
                <c:pt idx="8">
                  <c:v>watches_gifts</c:v>
                </c:pt>
                <c:pt idx="9">
                  <c:v>health_beauty</c:v>
                </c:pt>
              </c:strCache>
            </c:strRef>
          </c:cat>
          <c:val>
            <c:numRef>
              <c:f>Sheet1!$B$2:$B$11</c:f>
              <c:numCache>
                <c:formatCode>#,##0.0</c:formatCode>
                <c:ptCount val="10"/>
                <c:pt idx="0">
                  <c:v>0.58421920999999999</c:v>
                </c:pt>
                <c:pt idx="1">
                  <c:v>0.68538431999999994</c:v>
                </c:pt>
                <c:pt idx="2">
                  <c:v>0.71932995</c:v>
                </c:pt>
                <c:pt idx="3">
                  <c:v>0.77839776999999999</c:v>
                </c:pt>
                <c:pt idx="4">
                  <c:v>0.90251179000000004</c:v>
                </c:pt>
                <c:pt idx="5">
                  <c:v>1.0592724</c:v>
                </c:pt>
                <c:pt idx="6">
                  <c:v>1.1566564799999999</c:v>
                </c:pt>
                <c:pt idx="7">
                  <c:v>1.2416817199999999</c:v>
                </c:pt>
                <c:pt idx="8">
                  <c:v>1.3055416100000001</c:v>
                </c:pt>
                <c:pt idx="9">
                  <c:v>1.4412480700000001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CC-4C8F-9E73-961FD4132C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378809056"/>
        <c:axId val="1378799936"/>
      </c:barChart>
      <c:catAx>
        <c:axId val="13788090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200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8799936"/>
        <c:crosses val="autoZero"/>
        <c:auto val="1"/>
        <c:lblAlgn val="ctr"/>
        <c:lblOffset val="100"/>
        <c:noMultiLvlLbl val="0"/>
      </c:catAx>
      <c:valAx>
        <c:axId val="1378799936"/>
        <c:scaling>
          <c:orientation val="minMax"/>
          <c:max val="1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88090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66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3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502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54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12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94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44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02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14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606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2374077-9B34-4FA8-8422-634E903F67E1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71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olist-db.netlify.app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94A9-7D4E-08E8-2BC4-2E577C0376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Olist</a:t>
            </a:r>
            <a:r>
              <a:rPr lang="en-US"/>
              <a:t> E-Commerce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8B991C-977C-E566-2E84-577DEEE76A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Azure SQL + T-SQL Database Analysis</a:t>
            </a:r>
          </a:p>
          <a:p>
            <a:r>
              <a:rPr lang="en-US"/>
              <a:t>Michael Amaya | Vanessa Quiroz | Jan Zika</a:t>
            </a:r>
          </a:p>
        </p:txBody>
      </p:sp>
    </p:spTree>
    <p:extLst>
      <p:ext uri="{BB962C8B-B14F-4D97-AF65-F5344CB8AC3E}">
        <p14:creationId xmlns:p14="http://schemas.microsoft.com/office/powerpoint/2010/main" val="764150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BD08D1-A20C-8824-49BF-4AD31207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69FF13-3531-629D-F396-B0DEF3786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About the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F210F-1633-099E-EDC2-40945E14CCB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b="1"/>
              <a:t>Brazilian e-commerce marketplace</a:t>
            </a:r>
            <a:r>
              <a:rPr lang="en-US"/>
              <a:t>, data collected January 2017 – August 2018</a:t>
            </a:r>
          </a:p>
          <a:p>
            <a:r>
              <a:rPr lang="en-US"/>
              <a:t>11 tables | ~1.56 million rows</a:t>
            </a:r>
          </a:p>
          <a:p>
            <a:r>
              <a:rPr lang="en-US"/>
              <a:t>Orders, customers, sellers, products, payments, reviews, marketing leads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91E1A53-C0C9-652E-D895-46D5E3F72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Goal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10212-EDE2-D982-0ED2-33A80E85155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/>
              <a:t>Analyze </a:t>
            </a:r>
            <a:r>
              <a:rPr lang="en-US" b="1"/>
              <a:t>sales performance and customer behavior</a:t>
            </a:r>
            <a:r>
              <a:rPr lang="en-US"/>
              <a:t> in a large e‑commerce marketplace</a:t>
            </a:r>
          </a:p>
          <a:p>
            <a:r>
              <a:rPr lang="en-US"/>
              <a:t>Jan: Sales &amp; Revenue (Q01–Q04)</a:t>
            </a:r>
          </a:p>
          <a:p>
            <a:r>
              <a:rPr lang="en-US"/>
              <a:t>Michael: Customer &amp; Delivery Behavior (Q05–Q08)</a:t>
            </a:r>
          </a:p>
          <a:p>
            <a:r>
              <a:rPr lang="en-US"/>
              <a:t>Vanessa: Seller &amp; Product Performance (Q09–Q12)</a:t>
            </a:r>
          </a:p>
        </p:txBody>
      </p:sp>
    </p:spTree>
    <p:extLst>
      <p:ext uri="{BB962C8B-B14F-4D97-AF65-F5344CB8AC3E}">
        <p14:creationId xmlns:p14="http://schemas.microsoft.com/office/powerpoint/2010/main" val="4863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8AC0-62E9-57DD-DC84-99F7E9D64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 Pipeline: SQLite → SQL Server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CA810-54C5-D62B-F075-194CB2D39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Source: single-file </a:t>
            </a:r>
            <a:r>
              <a:rPr lang="en-US" b="1"/>
              <a:t>SQLite</a:t>
            </a:r>
            <a:r>
              <a:rPr lang="en-US"/>
              <a:t> database (110 MB)</a:t>
            </a:r>
          </a:p>
          <a:p>
            <a:r>
              <a:rPr lang="en-US" b="1"/>
              <a:t>Python script:</a:t>
            </a:r>
          </a:p>
          <a:p>
            <a:pPr lvl="1"/>
            <a:r>
              <a:rPr lang="cs-CZ"/>
              <a:t>P</a:t>
            </a:r>
            <a:r>
              <a:rPr lang="en-US" err="1"/>
              <a:t>arsed</a:t>
            </a:r>
            <a:r>
              <a:rPr lang="en-US"/>
              <a:t> the SQLite data</a:t>
            </a:r>
          </a:p>
          <a:p>
            <a:pPr lvl="1"/>
            <a:r>
              <a:rPr lang="cs-CZ"/>
              <a:t>G</a:t>
            </a:r>
            <a:r>
              <a:rPr lang="en-US" err="1"/>
              <a:t>enerated</a:t>
            </a:r>
            <a:r>
              <a:rPr lang="en-US"/>
              <a:t> SQL Server-compatible INSERT scripts for each entity</a:t>
            </a:r>
          </a:p>
          <a:p>
            <a:pPr lvl="1"/>
            <a:r>
              <a:rPr lang="cs-CZ"/>
              <a:t>H</a:t>
            </a:r>
            <a:r>
              <a:rPr lang="en-US" err="1"/>
              <a:t>andled</a:t>
            </a:r>
            <a:r>
              <a:rPr lang="en-US"/>
              <a:t> </a:t>
            </a:r>
            <a:r>
              <a:rPr lang="en-US" b="1"/>
              <a:t>type conversion</a:t>
            </a:r>
            <a:r>
              <a:rPr lang="en-US"/>
              <a:t>, scientific notation, FK ordering, and </a:t>
            </a:r>
            <a:r>
              <a:rPr lang="en-US" b="1"/>
              <a:t>data validation</a:t>
            </a:r>
          </a:p>
          <a:p>
            <a:r>
              <a:rPr lang="en-US"/>
              <a:t>Scripts executed in SQL Server Management Studio to create and populate the database on </a:t>
            </a:r>
            <a:r>
              <a:rPr lang="en-US" b="1"/>
              <a:t>local SQL Server</a:t>
            </a:r>
          </a:p>
          <a:p>
            <a:r>
              <a:rPr lang="en-US"/>
              <a:t>Database exported as a </a:t>
            </a:r>
            <a:r>
              <a:rPr lang="en-US" b="1"/>
              <a:t>.</a:t>
            </a:r>
            <a:r>
              <a:rPr lang="en-US" b="1" err="1"/>
              <a:t>bacpac</a:t>
            </a:r>
            <a:r>
              <a:rPr lang="en-US"/>
              <a:t> file and uploaded to </a:t>
            </a:r>
            <a:r>
              <a:rPr lang="en-US" b="1"/>
              <a:t>Azure SQL</a:t>
            </a:r>
            <a:r>
              <a:rPr lang="en-US"/>
              <a:t> for team access</a:t>
            </a:r>
          </a:p>
          <a:p>
            <a:r>
              <a:rPr lang="en-US"/>
              <a:t>SQL Server database schema </a:t>
            </a:r>
            <a:r>
              <a:rPr lang="cs-CZ" b="1" err="1"/>
              <a:t>verified</a:t>
            </a:r>
            <a:r>
              <a:rPr lang="en-US"/>
              <a:t> via an SQL script</a:t>
            </a:r>
            <a:endParaRPr lang="cs-CZ"/>
          </a:p>
          <a:p>
            <a:pPr lvl="1"/>
            <a:r>
              <a:rPr lang="cs-CZ" err="1"/>
              <a:t>Verified</a:t>
            </a:r>
            <a:r>
              <a:rPr lang="cs-CZ"/>
              <a:t> data profile and </a:t>
            </a:r>
            <a:r>
              <a:rPr lang="cs-CZ" err="1"/>
              <a:t>types</a:t>
            </a:r>
            <a:r>
              <a:rPr lang="cs-CZ"/>
              <a:t> (sanity </a:t>
            </a:r>
            <a:r>
              <a:rPr lang="cs-CZ" err="1"/>
              <a:t>check</a:t>
            </a:r>
            <a:r>
              <a:rPr lang="cs-CZ"/>
              <a:t>)</a:t>
            </a:r>
          </a:p>
          <a:p>
            <a:pPr lvl="1"/>
            <a:r>
              <a:rPr lang="cs-CZ" err="1"/>
              <a:t>Compared</a:t>
            </a:r>
            <a:r>
              <a:rPr lang="cs-CZ"/>
              <a:t> </a:t>
            </a:r>
            <a:r>
              <a:rPr lang="cs-CZ" err="1"/>
              <a:t>the</a:t>
            </a:r>
            <a:r>
              <a:rPr lang="cs-CZ"/>
              <a:t> </a:t>
            </a:r>
            <a:r>
              <a:rPr lang="cs-CZ" err="1"/>
              <a:t>result</a:t>
            </a:r>
            <a:r>
              <a:rPr lang="cs-CZ"/>
              <a:t> to </a:t>
            </a:r>
            <a:r>
              <a:rPr lang="cs-CZ" err="1"/>
              <a:t>an</a:t>
            </a:r>
            <a:r>
              <a:rPr lang="cs-CZ"/>
              <a:t> </a:t>
            </a:r>
            <a:r>
              <a:rPr lang="cs-CZ" err="1"/>
              <a:t>SQLite</a:t>
            </a:r>
            <a:r>
              <a:rPr lang="cs-CZ"/>
              <a:t> script ran on </a:t>
            </a:r>
            <a:r>
              <a:rPr lang="cs-CZ" err="1"/>
              <a:t>the</a:t>
            </a:r>
            <a:r>
              <a:rPr lang="cs-CZ"/>
              <a:t> </a:t>
            </a:r>
            <a:r>
              <a:rPr lang="cs-CZ" err="1"/>
              <a:t>original</a:t>
            </a:r>
            <a:r>
              <a:rPr lang="cs-CZ"/>
              <a:t> </a:t>
            </a:r>
            <a:r>
              <a:rPr lang="cs-CZ" err="1"/>
              <a:t>SQLite</a:t>
            </a:r>
            <a:r>
              <a:rPr lang="cs-CZ"/>
              <a:t> database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67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E0EC26A-F3D0-935F-EDBC-05BD03843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626" y="201660"/>
            <a:ext cx="10608747" cy="6295809"/>
          </a:xfrm>
          <a:prstGeom prst="rect">
            <a:avLst/>
          </a:prstGeom>
        </p:spPr>
      </p:pic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151656F4-1C8F-3F0E-F632-9BECCFF6DEB1}"/>
              </a:ext>
            </a:extLst>
          </p:cNvPr>
          <p:cNvSpPr txBox="1">
            <a:spLocks/>
          </p:cNvSpPr>
          <p:nvPr/>
        </p:nvSpPr>
        <p:spPr>
          <a:xfrm>
            <a:off x="791626" y="5833380"/>
            <a:ext cx="4754880" cy="8229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1CADE4"/>
                </a:solidFill>
              </a:rPr>
              <a:t>ER Diagram</a:t>
            </a:r>
          </a:p>
        </p:txBody>
      </p:sp>
    </p:spTree>
    <p:extLst>
      <p:ext uri="{BB962C8B-B14F-4D97-AF65-F5344CB8AC3E}">
        <p14:creationId xmlns:p14="http://schemas.microsoft.com/office/powerpoint/2010/main" val="3517948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B84D43-880C-7775-EAB1-2F276321F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Sales &amp;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F2A7EC-EE4D-EF78-1037-38E91823C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Jan Zika | Q1–Q4</a:t>
            </a:r>
          </a:p>
        </p:txBody>
      </p:sp>
    </p:spTree>
    <p:extLst>
      <p:ext uri="{BB962C8B-B14F-4D97-AF65-F5344CB8AC3E}">
        <p14:creationId xmlns:p14="http://schemas.microsoft.com/office/powerpoint/2010/main" val="2635400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6D65D7-B5F5-FCB8-B0B8-F168E34AB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Revenue Trends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8807B4-729E-EBE5-8DE0-010A00FC1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Q1 (+ View)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C3FC8C0-C45C-7C45-0ECD-71350C3962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/>
              <a:t>Revenue grew 9x</a:t>
            </a:r>
            <a:r>
              <a:rPr lang="en-US"/>
              <a:t> from January 2017</a:t>
            </a:r>
            <a:br>
              <a:rPr lang="en-US"/>
            </a:br>
            <a:r>
              <a:rPr lang="en-US"/>
              <a:t>to peak in November 2017</a:t>
            </a:r>
            <a:br>
              <a:rPr lang="en-US"/>
            </a:br>
            <a:r>
              <a:rPr lang="en-US"/>
              <a:t>— potential seasonality</a:t>
            </a:r>
            <a:br>
              <a:rPr lang="en-US"/>
            </a:br>
            <a:r>
              <a:rPr lang="en-US"/>
              <a:t>(Black Friday effect)</a:t>
            </a:r>
          </a:p>
          <a:p>
            <a:r>
              <a:rPr lang="en-US" b="1"/>
              <a:t>Average</a:t>
            </a:r>
            <a:r>
              <a:rPr lang="en-US"/>
              <a:t> monthly growth was 15%</a:t>
            </a:r>
          </a:p>
          <a:p>
            <a:r>
              <a:rPr lang="en-US"/>
              <a:t>Revenue </a:t>
            </a:r>
            <a:r>
              <a:rPr lang="en-US" b="1"/>
              <a:t>plateaued</a:t>
            </a:r>
            <a:r>
              <a:rPr lang="en-US"/>
              <a:t> in 2018 around R$1M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B2F043B-34CA-9F4F-EFA4-BDF09EBAFF6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14315" y="2591116"/>
            <a:ext cx="5553557" cy="326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190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F7E7E-E86F-BF34-4266-26DE5F24A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218C80C-155D-F089-E84F-73A4E80E3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Payment Methods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551A200-32D5-D819-B163-F3710DDDC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Q2 (+ View)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6929EB6-3647-FFAC-71AD-4ABFBB35A4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/>
              <a:t>Credit cards</a:t>
            </a:r>
            <a:r>
              <a:rPr lang="en-US"/>
              <a:t> dominate</a:t>
            </a:r>
            <a:br>
              <a:rPr lang="en-US"/>
            </a:br>
            <a:r>
              <a:rPr lang="en-US"/>
              <a:t>— CC purchases split to 3.5 installments on average, confirms that installment culture is important in Brazilian e-commerce</a:t>
            </a:r>
          </a:p>
          <a:p>
            <a:r>
              <a:rPr lang="en-US" b="1" err="1"/>
              <a:t>Boleto</a:t>
            </a:r>
            <a:r>
              <a:rPr lang="en-US"/>
              <a:t> (bank slip) second</a:t>
            </a:r>
            <a:br>
              <a:rPr lang="en-US"/>
            </a:br>
            <a:r>
              <a:rPr lang="en-US"/>
              <a:t>— no card required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323EC8F-035A-2D2E-C23B-14D40A5CB20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84164" y="2591116"/>
            <a:ext cx="5550408" cy="321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00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E932-D46F-17DC-53ED-3EB96A5C1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Order Value by State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0D444-4BE3-B609-F7FE-149BE258C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Q3 (+ Stored Procedure)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24AD-D3DA-8F50-7A94-780BBAD99CA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Top 10 </a:t>
            </a:r>
            <a:r>
              <a:rPr lang="en-US" b="1"/>
              <a:t>highest avg order</a:t>
            </a:r>
            <a:r>
              <a:rPr lang="en-US"/>
              <a:t> value are all North/Northeast states</a:t>
            </a:r>
          </a:p>
          <a:p>
            <a:r>
              <a:rPr lang="en-US" b="1"/>
              <a:t>Paraíba</a:t>
            </a:r>
            <a:r>
              <a:rPr lang="en-US"/>
              <a:t> highest: average product value</a:t>
            </a:r>
            <a:br>
              <a:rPr lang="en-US"/>
            </a:br>
            <a:r>
              <a:rPr lang="en-US"/>
              <a:t>R$192 + freight R$43 = R$235 total</a:t>
            </a:r>
          </a:p>
          <a:p>
            <a:r>
              <a:rPr lang="en-US"/>
              <a:t>Higher product values</a:t>
            </a:r>
            <a:br>
              <a:rPr lang="en-US"/>
            </a:br>
            <a:r>
              <a:rPr lang="en-US"/>
              <a:t>— not just freight inflation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474A8FA5-08AC-5AD7-B425-4F396725873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188" y="548640"/>
            <a:ext cx="6480512" cy="6080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768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6EF7D-C4D3-1886-3EFD-250D00DC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7A426-DB27-7205-36CC-082B1FD1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10 Categories by revenue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84BA7-BE6A-AD2F-4130-D5561A2CF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4BD4E-FA52-85CE-FEEF-1C194D4384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/>
              <a:t>Health &amp; beauty</a:t>
            </a:r>
            <a:br>
              <a:rPr lang="en-US" b="1"/>
            </a:br>
            <a:r>
              <a:rPr lang="en-US"/>
              <a:t>is #1 category</a:t>
            </a:r>
            <a:br>
              <a:rPr lang="en-US"/>
            </a:br>
            <a:r>
              <a:rPr lang="en-US"/>
              <a:t>by revenue: R$1.44M</a:t>
            </a:r>
          </a:p>
          <a:p>
            <a:r>
              <a:rPr lang="en-US" b="1"/>
              <a:t>Watches &amp; gifts</a:t>
            </a:r>
            <a:r>
              <a:rPr lang="en-US"/>
              <a:t> #2</a:t>
            </a:r>
            <a:br>
              <a:rPr lang="en-US"/>
            </a:br>
            <a:r>
              <a:rPr lang="en-US" b="1"/>
              <a:t>Bed/bath/table</a:t>
            </a:r>
            <a:r>
              <a:rPr lang="en-US"/>
              <a:t> #3</a:t>
            </a:r>
            <a:br>
              <a:rPr lang="en-US"/>
            </a:br>
            <a:r>
              <a:rPr lang="en-US"/>
              <a:t>— lifestyle over electronics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22898495-DC58-D4FC-1810-A0C7A14816A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837129516"/>
              </p:ext>
            </p:extLst>
          </p:nvPr>
        </p:nvGraphicFramePr>
        <p:xfrm>
          <a:off x="5292991" y="1773236"/>
          <a:ext cx="5874881" cy="4614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86552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D0FE1D-EE1D-CBA0-440A-FC5AF9D86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Customer &amp; Delivery Behavior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732DF04-1DE9-5BF9-6277-EF7309B4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Michael Amaya | Q5–Q8</a:t>
            </a:r>
          </a:p>
        </p:txBody>
      </p:sp>
    </p:spTree>
    <p:extLst>
      <p:ext uri="{BB962C8B-B14F-4D97-AF65-F5344CB8AC3E}">
        <p14:creationId xmlns:p14="http://schemas.microsoft.com/office/powerpoint/2010/main" val="2306582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68A88-CD02-E230-F679-81946D1CF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Delivery Time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E2797-167C-8E8B-B485-E71790C6E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2F4CE0-5F18-E6DB-A60B-95D50722A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3598" y="3002596"/>
            <a:ext cx="4754880" cy="3028261"/>
          </a:xfrm>
        </p:spPr>
        <p:txBody>
          <a:bodyPr>
            <a:normAutofit/>
          </a:bodyPr>
          <a:lstStyle/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91.88% On-Time Rate — High operational reliability.</a:t>
            </a:r>
          </a:p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1 in 12 Orders Late — 7,826 orders; significant service failure.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90502B-ACC9-BF04-B716-2D145AC66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79636"/>
            <a:ext cx="5331124" cy="3453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776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61C3193-7B08-9831-3254-C379A2178BCD}"/>
              </a:ext>
            </a:extLst>
          </p:cNvPr>
          <p:cNvSpPr txBox="1">
            <a:spLocks/>
          </p:cNvSpPr>
          <p:nvPr/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Customer Reviews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0D39DAF-CA56-905C-25C5-09F008A51478}"/>
              </a:ext>
            </a:extLst>
          </p:cNvPr>
          <p:cNvSpPr txBox="1">
            <a:spLocks/>
          </p:cNvSpPr>
          <p:nvPr/>
        </p:nvSpPr>
        <p:spPr>
          <a:xfrm>
            <a:off x="1024128" y="214983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Q6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2F055CA9-6B76-8E2A-D017-D0EDB7704AC8}"/>
              </a:ext>
            </a:extLst>
          </p:cNvPr>
          <p:cNvSpPr txBox="1">
            <a:spLocks/>
          </p:cNvSpPr>
          <p:nvPr/>
        </p:nvSpPr>
        <p:spPr>
          <a:xfrm>
            <a:off x="955117" y="3037790"/>
            <a:ext cx="4754880" cy="3009327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57.78% 5-Star Reviews — Majority customer satisfaction.</a:t>
            </a:r>
          </a:p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11.51% 1-Star Reviews — Critical failure rate.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53C0F1-C870-7F9E-18C1-BBE00385A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84832"/>
            <a:ext cx="5572125" cy="380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279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560-2801-DF72-748D-88EA669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Order Insights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F6C46-87BA-B4DA-4388-4B98932B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9AED6A-86DC-694C-C636-2D6D387EE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24128" y="3002596"/>
            <a:ext cx="4754880" cy="2941004"/>
          </a:xfrm>
        </p:spPr>
        <p:txBody>
          <a:bodyPr>
            <a:normAutofit/>
          </a:bodyPr>
          <a:lstStyle/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3% Retention Rate — High dependency on new customer acquisition.</a:t>
            </a:r>
          </a:p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2,840 Repeat Customers — Minimal loyalty out of a 95k customer base.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EF3BAE-996C-3B2B-BE79-8762F740E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84832"/>
            <a:ext cx="5601419" cy="382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46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4E41C-5668-E7EA-EBB3-7AD5BE5FE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221CE-E2EF-AD9D-6AF2-4B49A62DE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Order Insights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3C0572-3B29-2F3F-51E2-BD33B505EF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24128" y="2184898"/>
            <a:ext cx="4754880" cy="822960"/>
          </a:xfrm>
        </p:spPr>
        <p:txBody>
          <a:bodyPr/>
          <a:lstStyle/>
          <a:p>
            <a:r>
              <a:rPr lang="en-US"/>
              <a:t>Q8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1C1823-A207-96D2-2AA5-C6ED1726C9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24128" y="3007858"/>
            <a:ext cx="4754880" cy="3264926"/>
          </a:xfrm>
        </p:spPr>
        <p:txBody>
          <a:bodyPr vert="horz" lIns="45720" tIns="45720" rIns="45720" bIns="45720" rtlCol="0" anchor="t">
            <a:normAutofit/>
          </a:bodyPr>
          <a:lstStyle/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96,000+ Delivered — Successful large-scale distribution.</a:t>
            </a:r>
          </a:p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1,100 In-Flight — Active orders currently in processing or transit.</a:t>
            </a:r>
          </a:p>
          <a:p>
            <a:pPr marL="91440" lvl="1" indent="-91440">
              <a:spcBef>
                <a:spcPts val="1200"/>
              </a:spcBef>
              <a:spcAft>
                <a:spcPts val="200"/>
              </a:spcAft>
              <a:buSzPct val="100000"/>
              <a:buFont typeface="Tw Cen MT" panose="020B0602020104020603" pitchFamily="34" charset="0"/>
              <a:buChar char=" "/>
            </a:pPr>
            <a:r>
              <a:rPr lang="en-US" sz="2200"/>
              <a:t>1,200 Lost Sales — Revenue lost to cancellations and inventory unavailability.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43AD53-C0BD-D749-0645-E600526B8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4164" y="2084832"/>
            <a:ext cx="5701111" cy="380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788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DF95-F02F-EC99-ACC1-1310D28C5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74A22A0-0AF8-E9C0-F208-9F50FC42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Seller &amp; Product Performance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9EF12B-DA68-D5D5-9C8A-7E783197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Vanessa Quiroz | Q9–Q12</a:t>
            </a:r>
          </a:p>
        </p:txBody>
      </p:sp>
    </p:spTree>
    <p:extLst>
      <p:ext uri="{BB962C8B-B14F-4D97-AF65-F5344CB8AC3E}">
        <p14:creationId xmlns:p14="http://schemas.microsoft.com/office/powerpoint/2010/main" val="1730064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83C7-D3CF-D222-5542-2DC7E847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3BF00-1200-5270-AFAE-E18BC2224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/>
            </a:br>
            <a:r>
              <a:rPr lang="en-US"/>
              <a:t>Top Sellers by Revenue: Performance and Order Volume Comparison</a:t>
            </a:r>
          </a:p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E9E5AC-5528-DF1A-F54C-229D7FC4F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8943" y="2179207"/>
            <a:ext cx="4887786" cy="4644059"/>
          </a:xfrm>
        </p:spPr>
        <p:txBody>
          <a:bodyPr vert="horz" lIns="45720" tIns="45720" rIns="45720" bIns="45720" rtlCol="0" anchor="t">
            <a:normAutofit/>
          </a:bodyPr>
          <a:lstStyle/>
          <a:p>
            <a:r>
              <a:rPr lang="en-US" b="1">
                <a:ea typeface="+mn-lt"/>
                <a:cs typeface="+mn-lt"/>
              </a:rPr>
              <a:t>Key Insights: </a:t>
            </a:r>
            <a:endParaRPr lang="en-US"/>
          </a:p>
          <a:p>
            <a:r>
              <a:rPr lang="en-US">
                <a:ea typeface="+mn-lt"/>
                <a:cs typeface="+mn-lt"/>
              </a:rPr>
              <a:t>Performance is not one-dimensional. </a:t>
            </a:r>
          </a:p>
          <a:p>
            <a:r>
              <a:rPr lang="en-US" b="1">
                <a:ea typeface="+mn-lt"/>
                <a:cs typeface="+mn-lt"/>
              </a:rPr>
              <a:t>High volume - Lower Value sellers: </a:t>
            </a:r>
            <a:endParaRPr lang="en-US"/>
          </a:p>
          <a:p>
            <a:pPr marL="264795" lvl="1">
              <a:buFont typeface="Wingdings 3" panose="020B0602020104020603" pitchFamily="34" charset="0"/>
              <a:buChar char=""/>
            </a:pPr>
            <a:r>
              <a:rPr lang="en-US">
                <a:ea typeface="+mn-lt"/>
                <a:cs typeface="+mn-lt"/>
              </a:rPr>
              <a:t>Seller #3 - 1,806 orders, avg value $111</a:t>
            </a:r>
            <a:endParaRPr lang="en-US"/>
          </a:p>
          <a:p>
            <a:pPr marL="264795" lvl="1">
              <a:buFont typeface="Wingdings 3" panose="020B0602020104020603" pitchFamily="34" charset="0"/>
              <a:buChar char=""/>
            </a:pPr>
            <a:r>
              <a:rPr lang="en-US">
                <a:ea typeface="+mn-lt"/>
                <a:cs typeface="+mn-lt"/>
              </a:rPr>
              <a:t>Seller #7 - 1,314 orders, avg value $122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Low volume - Higher value Sellers: </a:t>
            </a:r>
            <a:endParaRPr lang="en-US"/>
          </a:p>
          <a:p>
            <a:pPr marL="264795" lvl="1">
              <a:buFont typeface="Wingdings 3" panose="020B0602020104020603" pitchFamily="34" charset="0"/>
              <a:buChar char=""/>
            </a:pPr>
            <a:r>
              <a:rPr lang="en-US">
                <a:ea typeface="+mn-lt"/>
                <a:cs typeface="+mn-lt"/>
              </a:rPr>
              <a:t>Seller #2 - 358 orders, Avg value $622</a:t>
            </a:r>
            <a:endParaRPr lang="en-US"/>
          </a:p>
          <a:p>
            <a:pPr marL="264795" lvl="1">
              <a:buFont typeface="Wingdings 3" panose="020B0602020104020603" pitchFamily="34" charset="0"/>
              <a:buChar char=""/>
            </a:pPr>
            <a:r>
              <a:rPr lang="en-US">
                <a:ea typeface="+mn-lt"/>
                <a:cs typeface="+mn-lt"/>
              </a:rPr>
              <a:t>Seller #6 - 336 orders, avg value $525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#1 seller is not the most efficient. </a:t>
            </a:r>
            <a:endParaRPr lang="en-US"/>
          </a:p>
          <a:p>
            <a:pPr marL="264795" lvl="1">
              <a:buFont typeface="Wingdings 3" panose="020B0602020104020603" pitchFamily="34" charset="0"/>
              <a:buChar char=""/>
            </a:pPr>
            <a:r>
              <a:rPr lang="en-US">
                <a:ea typeface="+mn-lt"/>
                <a:cs typeface="+mn-lt"/>
              </a:rPr>
              <a:t>Highest total revenue=$229K</a:t>
            </a:r>
            <a:endParaRPr lang="en-US"/>
          </a:p>
          <a:p>
            <a:pPr marL="264795" lvl="1">
              <a:buFont typeface="Wingdings 3" panose="020B0602020104020603" pitchFamily="34" charset="0"/>
              <a:buChar char=""/>
            </a:pPr>
            <a:r>
              <a:rPr lang="en-US">
                <a:ea typeface="+mn-lt"/>
                <a:cs typeface="+mn-lt"/>
              </a:rPr>
              <a:t>1,132 orders, avg value $203</a:t>
            </a:r>
            <a:endParaRPr lang="en-US"/>
          </a:p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A5DA880-24F5-C1F5-0943-2B1317ADBD7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5683" y="2661929"/>
            <a:ext cx="6784924" cy="3445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1096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6DBD7-B02A-859D-259A-DEFCECA2C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A8932-EDCF-DE39-93DC-F93CCE10D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Most Popular Product Categories by Volume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C271C-DCA5-3F32-A461-427150EF338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Key Insights:</a:t>
            </a:r>
          </a:p>
          <a:p>
            <a:pPr lvl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/>
              <a:t>Home-related products dominate demand.</a:t>
            </a:r>
          </a:p>
          <a:p>
            <a:pPr lvl="1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/>
              <a:t>Demand is relatively concentrated at the top</a:t>
            </a:r>
          </a:p>
          <a:p>
            <a:pPr marL="128016" lvl="1" indent="0">
              <a:buClr>
                <a:schemeClr val="tx1"/>
              </a:buClr>
              <a:buNone/>
            </a:pPr>
            <a:r>
              <a:rPr lang="en-US"/>
              <a:t>* Category names were translated from Portuguese to English to improve clarity and interpretability.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418AE5F-2FDD-4E03-D4F5-A66B967731E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201" y="2797730"/>
            <a:ext cx="6228074" cy="233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580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F2781-2BF1-5092-2C32-FDD5BD6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4EDA-C1EA-695C-FFD0-C25A07CE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10115540" cy="1499616"/>
          </a:xfrm>
        </p:spPr>
        <p:txBody>
          <a:bodyPr/>
          <a:lstStyle/>
          <a:p>
            <a:r>
              <a:rPr lang="en-US"/>
              <a:t>Relationship Between Product Weight and Freight Cost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5C0FD-FFEE-F9D5-0E03-4CCDA55A2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510" y="2084832"/>
            <a:ext cx="10375115" cy="1075293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Key Insights: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Weight influences cost, but it’s not the only driver.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Clustering suggests pricing constraints</a:t>
            </a:r>
          </a:p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FCD48EF-9EF2-6570-3902-D453799A706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375" y="3053592"/>
            <a:ext cx="9836092" cy="3840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169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C4093-53D8-5CA1-F8E6-EE3783800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B53A1A9-7387-5881-0778-6DA5664FE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Bonus: Geolocation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31A33B-773B-E7D4-BA25-45D0180E3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Jan Zika | View + Q13</a:t>
            </a:r>
          </a:p>
        </p:txBody>
      </p:sp>
    </p:spTree>
    <p:extLst>
      <p:ext uri="{BB962C8B-B14F-4D97-AF65-F5344CB8AC3E}">
        <p14:creationId xmlns:p14="http://schemas.microsoft.com/office/powerpoint/2010/main" val="3389112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F10180-2EC4-B2DC-F3C4-0427C5063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Geography of Brazilian E-Commerce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FEAFD7E-7479-AB71-8199-6899553B2D42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5209694"/>
              </p:ext>
            </p:extLst>
          </p:nvPr>
        </p:nvGraphicFramePr>
        <p:xfrm>
          <a:off x="1024128" y="1877078"/>
          <a:ext cx="4885208" cy="453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864">
                  <a:extLst>
                    <a:ext uri="{9D8B030D-6E8A-4147-A177-3AD203B41FA5}">
                      <a16:colId xmlns:a16="http://schemas.microsoft.com/office/drawing/2014/main" val="1428173624"/>
                    </a:ext>
                  </a:extLst>
                </a:gridCol>
                <a:gridCol w="840597">
                  <a:extLst>
                    <a:ext uri="{9D8B030D-6E8A-4147-A177-3AD203B41FA5}">
                      <a16:colId xmlns:a16="http://schemas.microsoft.com/office/drawing/2014/main" val="590301562"/>
                    </a:ext>
                  </a:extLst>
                </a:gridCol>
                <a:gridCol w="893610">
                  <a:extLst>
                    <a:ext uri="{9D8B030D-6E8A-4147-A177-3AD203B41FA5}">
                      <a16:colId xmlns:a16="http://schemas.microsoft.com/office/drawing/2014/main" val="1128204968"/>
                    </a:ext>
                  </a:extLst>
                </a:gridCol>
                <a:gridCol w="1053137">
                  <a:extLst>
                    <a:ext uri="{9D8B030D-6E8A-4147-A177-3AD203B41FA5}">
                      <a16:colId xmlns:a16="http://schemas.microsoft.com/office/drawing/2014/main" val="25145766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1600">
                          <a:latin typeface="+mj-lt"/>
                        </a:rPr>
                        <a:t>City Route</a:t>
                      </a:r>
                      <a:endParaRPr lang="en-US" sz="160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>
                          <a:latin typeface="+mj-lt"/>
                        </a:rPr>
                        <a:t>Order 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>
                          <a:latin typeface="+mj-lt"/>
                        </a:rPr>
                        <a:t>Av</a:t>
                      </a:r>
                      <a:r>
                        <a:rPr lang="cs-CZ" sz="1600" err="1">
                          <a:latin typeface="+mj-lt"/>
                        </a:rPr>
                        <a:t>era</a:t>
                      </a:r>
                      <a:r>
                        <a:rPr lang="en-US" sz="1600">
                          <a:latin typeface="+mj-lt"/>
                        </a:rPr>
                        <a:t>g</a:t>
                      </a:r>
                      <a:r>
                        <a:rPr lang="cs-CZ" sz="1600">
                          <a:latin typeface="+mj-lt"/>
                        </a:rPr>
                        <a:t>e</a:t>
                      </a:r>
                      <a:r>
                        <a:rPr lang="en-US" sz="1600">
                          <a:latin typeface="+mj-lt"/>
                        </a:rPr>
                        <a:t> Distance (miles)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>
                          <a:latin typeface="+mj-lt"/>
                        </a:rPr>
                        <a:t>Av</a:t>
                      </a:r>
                      <a:r>
                        <a:rPr lang="cs-CZ" sz="1600" err="1">
                          <a:latin typeface="+mj-lt"/>
                        </a:rPr>
                        <a:t>era</a:t>
                      </a:r>
                      <a:r>
                        <a:rPr lang="en-US" sz="1600">
                          <a:latin typeface="+mj-lt"/>
                        </a:rPr>
                        <a:t>g</a:t>
                      </a:r>
                      <a:r>
                        <a:rPr lang="cs-CZ" sz="1600">
                          <a:latin typeface="+mj-lt"/>
                        </a:rPr>
                        <a:t>e</a:t>
                      </a:r>
                      <a:r>
                        <a:rPr lang="en-US" sz="1600">
                          <a:latin typeface="+mj-lt"/>
                        </a:rPr>
                        <a:t> Freight Cost (R$)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57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6,895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6292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2,396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18.58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1405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1,957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14.14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37962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Belo Horizonte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1,063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16.96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3436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897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18.32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767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Santo André (SP) → 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756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32906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José (SP) → 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713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10.43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490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Goiânia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641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505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15.71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4401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Brasília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609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085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Curitiba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226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27761288"/>
                  </a:ext>
                </a:extLst>
              </a:tr>
            </a:tbl>
          </a:graphicData>
        </a:graphic>
      </p:graphicFrame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938AF4-F309-C5C4-0432-B8956E5C9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5648" y="2009158"/>
            <a:ext cx="4754880" cy="4023360"/>
          </a:xfrm>
        </p:spPr>
        <p:txBody>
          <a:bodyPr>
            <a:normAutofit fontScale="85000" lnSpcReduction="20000"/>
          </a:bodyPr>
          <a:lstStyle/>
          <a:p>
            <a:r>
              <a:rPr lang="en-US" b="1"/>
              <a:t>Sao Paulo is basically Amazon Brazil</a:t>
            </a:r>
          </a:p>
          <a:p>
            <a:pPr lvl="1"/>
            <a:r>
              <a:rPr lang="en-US"/>
              <a:t>One city shows up in 8 of the top 10 shipping routes.</a:t>
            </a:r>
          </a:p>
          <a:p>
            <a:pPr lvl="1"/>
            <a:r>
              <a:rPr lang="en-US"/>
              <a:t>The SP→SP route alone beats the next three routes combined.</a:t>
            </a:r>
          </a:p>
          <a:p>
            <a:r>
              <a:rPr lang="en-US" b="1" err="1"/>
              <a:t>Ibitinga</a:t>
            </a:r>
            <a:r>
              <a:rPr lang="en-US" b="1"/>
              <a:t> who?</a:t>
            </a:r>
          </a:p>
          <a:p>
            <a:pPr lvl="1"/>
            <a:r>
              <a:rPr lang="en-US"/>
              <a:t>A town of 60,000 people</a:t>
            </a:r>
          </a:p>
          <a:p>
            <a:pPr lvl="1"/>
            <a:r>
              <a:rPr lang="en-US"/>
              <a:t>Brazil's #2 seller city. Zero name recognition, but shipping textiles/craft to the entire country. Specialization &gt; size.</a:t>
            </a:r>
          </a:p>
          <a:p>
            <a:r>
              <a:rPr lang="en-US" b="1"/>
              <a:t>533 miles for R$ 7 (~ $1.40) extra </a:t>
            </a:r>
          </a:p>
          <a:p>
            <a:pPr lvl="1"/>
            <a:r>
              <a:rPr lang="en-US"/>
              <a:t>Shipping from Sao Paulo to Brasilia costs about the same as shipping across town.</a:t>
            </a:r>
          </a:p>
          <a:p>
            <a:pPr lvl="1"/>
            <a:r>
              <a:rPr lang="en-US"/>
              <a:t>Distance barely moves the needle on freight</a:t>
            </a:r>
          </a:p>
          <a:p>
            <a:r>
              <a:rPr lang="en-US" b="1"/>
              <a:t>Rio de Janeiro</a:t>
            </a:r>
          </a:p>
          <a:p>
            <a:pPr lvl="1"/>
            <a:r>
              <a:rPr lang="en-US"/>
              <a:t>All vibes, no warehouses</a:t>
            </a:r>
          </a:p>
          <a:p>
            <a:pPr lvl="1"/>
            <a:r>
              <a:rPr lang="en-US"/>
              <a:t>RJ is a top destination on two routes but nowhere to be found as a seller. The city buys. It does not ship.</a:t>
            </a:r>
          </a:p>
        </p:txBody>
      </p:sp>
    </p:spTree>
    <p:extLst>
      <p:ext uri="{BB962C8B-B14F-4D97-AF65-F5344CB8AC3E}">
        <p14:creationId xmlns:p14="http://schemas.microsoft.com/office/powerpoint/2010/main" val="5480871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8226-AC94-9FAF-FD4C-1973CFA7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Interactive 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AFC73-E333-4AEC-00E1-2072804FC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endParaRPr lang="en-US" sz="4400"/>
          </a:p>
          <a:p>
            <a:pPr algn="ctr"/>
            <a:r>
              <a:rPr lang="en-US" sz="4400">
                <a:hlinkClick r:id="rId2"/>
              </a:rPr>
              <a:t>https://olist-db.netlify.app/</a:t>
            </a:r>
            <a:endParaRPr lang="en-US" sz="4400"/>
          </a:p>
        </p:txBody>
      </p:sp>
    </p:spTree>
    <p:extLst>
      <p:ext uri="{BB962C8B-B14F-4D97-AF65-F5344CB8AC3E}">
        <p14:creationId xmlns:p14="http://schemas.microsoft.com/office/powerpoint/2010/main" val="35206079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880FEB-BE65-21ED-4792-B04C7B6D5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2890E-BD76-D024-7C7E-B366CAE9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Dataset: https://www.kaggle.com/datasets/terencicp/e-commerce-dataset-by-olist-as-an-sqlite-database</a:t>
            </a:r>
          </a:p>
          <a:p>
            <a:r>
              <a:rPr lang="en-US"/>
              <a:t>Project Repo: https://github.com/jan-zika/olist-db</a:t>
            </a:r>
          </a:p>
          <a:p>
            <a:r>
              <a:rPr lang="en-US"/>
              <a:t>Database: Azure SQL</a:t>
            </a:r>
          </a:p>
          <a:p>
            <a:r>
              <a:rPr lang="en-US"/>
              <a:t>Tools: SSMS, Azure SQL, Python, </a:t>
            </a:r>
            <a:r>
              <a:rPr lang="en-US" err="1"/>
              <a:t>DBCode</a:t>
            </a:r>
            <a:r>
              <a:rPr lang="cs-CZ"/>
              <a:t>, dbdiagram.io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810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51C2-62F0-FE7B-AE38-04A33B9D8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EFD25-0CC8-1D64-F10B-29AB5EF1C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3201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997</Words>
  <Application>Microsoft Office PowerPoint</Application>
  <PresentationFormat>Widescreen</PresentationFormat>
  <Paragraphs>156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Tw Cen MT</vt:lpstr>
      <vt:lpstr>Tw Cen MT Condensed</vt:lpstr>
      <vt:lpstr>Wingdings 3</vt:lpstr>
      <vt:lpstr>Integral</vt:lpstr>
      <vt:lpstr>Olist E-Commerce Analysis</vt:lpstr>
      <vt:lpstr>Overview</vt:lpstr>
      <vt:lpstr>Data Pipeline: SQLite → SQL Server</vt:lpstr>
      <vt:lpstr>PowerPoint Presentation</vt:lpstr>
      <vt:lpstr>Sales &amp; Revenue</vt:lpstr>
      <vt:lpstr>Revenue Trends</vt:lpstr>
      <vt:lpstr>Payment Methods</vt:lpstr>
      <vt:lpstr>Order Value by State</vt:lpstr>
      <vt:lpstr>Top 10 Categories by revenue</vt:lpstr>
      <vt:lpstr>Customer &amp; Delivery Behavior</vt:lpstr>
      <vt:lpstr>Delivery Time</vt:lpstr>
      <vt:lpstr>PowerPoint Presentation</vt:lpstr>
      <vt:lpstr>Order Insights</vt:lpstr>
      <vt:lpstr>Order Insights</vt:lpstr>
      <vt:lpstr>Seller &amp; Product Performance</vt:lpstr>
      <vt:lpstr> Top Sellers by Revenue: Performance and Order Volume Comparison </vt:lpstr>
      <vt:lpstr>Most Popular Product Categories by Volume</vt:lpstr>
      <vt:lpstr>Relationship Between Product Weight and Freight Cost</vt:lpstr>
      <vt:lpstr>Bonus: Geolocation</vt:lpstr>
      <vt:lpstr>The Geography of Brazilian E-Commerce</vt:lpstr>
      <vt:lpstr>Interactive MAP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Zika</dc:creator>
  <cp:lastModifiedBy>Vanessa Quiroz</cp:lastModifiedBy>
  <cp:revision>1</cp:revision>
  <dcterms:created xsi:type="dcterms:W3CDTF">2026-04-03T21:10:37Z</dcterms:created>
  <dcterms:modified xsi:type="dcterms:W3CDTF">2026-04-23T22:02:36Z</dcterms:modified>
</cp:coreProperties>
</file>